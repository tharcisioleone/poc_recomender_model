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2011680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Book Recommendation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BB"/>
                </a:solidFill>
                <a:latin typeface="Calibri"/>
              </a:defRPr>
            </a:pPr>
            <a:r>
              <a:t>POC — End-to-End Data Engineering on Databricks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Kaggle Book-Crossing Dataset  ·  Medallion Architecture  ·  ALS Recommender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Tharcisio Leone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Calibri"/>
              </a:defRPr>
            </a:pPr>
            <a:r>
              <a:t>⚡  Most of this presentation is a hands-on demo in the Databricks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0" cy="54864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828800" cy="1280160"/>
          </a:xfrm>
          <a:prstGeom prst="roundRect">
            <a:avLst/>
          </a:prstGeom>
          <a:solidFill>
            <a:srgbClr val="2A2E33"/>
          </a:solidFill>
          <a:ln w="254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BBBBB"/>
                </a:solidFill>
                <a:latin typeface="Calibri"/>
              </a:defRPr>
            </a:pPr>
            <a:r>
              <a:t>CSV</a:t>
            </a:r>
            <a:br/>
            <a:r>
              <a:t>Ingestion</a:t>
            </a:r>
          </a:p>
          <a:p>
            <a:pPr algn="ctr">
              <a:defRPr sz="1000">
                <a:solidFill>
                  <a:srgbClr val="BBBBBB"/>
                </a:solidFill>
                <a:latin typeface="Calibri"/>
              </a:defRPr>
            </a:pPr>
            <a:r>
              <a:t>01_read_data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1828800" cy="1280160"/>
          </a:xfrm>
          <a:prstGeom prst="roundRect">
            <a:avLst/>
          </a:prstGeom>
          <a:solidFill>
            <a:srgbClr val="2A2E33"/>
          </a:solidFill>
          <a:ln w="254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D7F32"/>
                </a:solidFill>
                <a:latin typeface="Calibri"/>
              </a:defRPr>
            </a:pPr>
            <a:r>
              <a:t>BRONZE</a:t>
            </a:r>
            <a:br/>
            <a:r>
              <a:t>Raw data</a:t>
            </a:r>
          </a:p>
          <a:p>
            <a:pPr algn="ctr">
              <a:defRPr sz="1000">
                <a:solidFill>
                  <a:srgbClr val="BBBBBB"/>
                </a:solidFill>
                <a:latin typeface="Calibri"/>
              </a:defRPr>
            </a:pPr>
            <a:r>
              <a:t>bronze.*_raw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1828800" cy="1280160"/>
          </a:xfrm>
          <a:prstGeom prst="roundRect">
            <a:avLst/>
          </a:prstGeom>
          <a:solidFill>
            <a:srgbClr val="2A2E33"/>
          </a:solidFill>
          <a:ln w="254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C0C0"/>
                </a:solidFill>
                <a:latin typeface="Calibri"/>
              </a:defRPr>
            </a:pPr>
            <a:r>
              <a:t>SILVER</a:t>
            </a:r>
            <a:br/>
            <a:r>
              <a:t>Cleaned</a:t>
            </a:r>
          </a:p>
          <a:p>
            <a:pPr algn="ctr">
              <a:defRPr sz="1000">
                <a:solidFill>
                  <a:srgbClr val="BBBBBB"/>
                </a:solidFill>
                <a:latin typeface="Calibri"/>
              </a:defRPr>
            </a:pPr>
            <a:r>
              <a:t>04 + 06 DQ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011680"/>
            <a:ext cx="1828800" cy="1280160"/>
          </a:xfrm>
          <a:prstGeom prst="roundRect">
            <a:avLst/>
          </a:prstGeom>
          <a:solidFill>
            <a:srgbClr val="2A2E3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D700"/>
                </a:solidFill>
                <a:latin typeface="Calibri"/>
              </a:defRPr>
            </a:pPr>
            <a:r>
              <a:t>GOLD</a:t>
            </a:r>
            <a:br/>
            <a:r>
              <a:t>Enriched</a:t>
            </a:r>
          </a:p>
          <a:p>
            <a:pPr algn="ctr">
              <a:defRPr sz="1000">
                <a:solidFill>
                  <a:srgbClr val="BBBBBB"/>
                </a:solidFill>
                <a:latin typeface="Calibri"/>
              </a:defRPr>
            </a:pPr>
            <a:r>
              <a:t>05_data_merge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011680"/>
            <a:ext cx="1828800" cy="1280160"/>
          </a:xfrm>
          <a:prstGeom prst="roundRect">
            <a:avLst/>
          </a:prstGeom>
          <a:solidFill>
            <a:srgbClr val="2A2E33"/>
          </a:solidFill>
          <a:ln w="25400">
            <a:solidFill>
              <a:srgbClr val="FF38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3821"/>
                </a:solidFill>
                <a:latin typeface="Calibri"/>
              </a:defRPr>
            </a:pPr>
            <a:r>
              <a:t>INSIGHTS</a:t>
            </a:r>
            <a:br/>
            <a:r>
              <a:t>ML + Viz</a:t>
            </a:r>
          </a:p>
          <a:p>
            <a:pPr algn="ctr">
              <a:defRPr sz="1000">
                <a:solidFill>
                  <a:srgbClr val="BBBBBB"/>
                </a:solidFill>
                <a:latin typeface="Calibri"/>
              </a:defRPr>
            </a:pPr>
            <a:r>
              <a:t>08 + 09 + 10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286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286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286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286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B6B"/>
                </a:solidFill>
                <a:latin typeface="Calibri"/>
              </a:defRPr>
            </a:pPr>
            <a:r>
              <a:t>↓  Quarantine (07)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931920"/>
            <a:ext cx="2286000" cy="731520"/>
          </a:xfrm>
          <a:prstGeom prst="roundRect">
            <a:avLst/>
          </a:prstGeom>
          <a:solidFill>
            <a:srgbClr val="2A2E33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6B6B"/>
                </a:solidFill>
                <a:latin typeface="Calibri"/>
              </a:defRPr>
            </a:pPr>
            <a:r>
              <a:t>Bad records isolated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BB"/>
                </a:solidFill>
                <a:latin typeface="Calibri"/>
              </a:defRPr>
            </a:pPr>
            <a:r>
              <a:t>PySpark  ·  Delta Lake  ·  MLflow  ·  Plotly  ·  Lakeview Dashboard  ·  Power BI  ·  ydata-profiling  ·  Git + DABs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54F"/>
                </a:solidFill>
                <a:latin typeface="Calibri"/>
              </a:defRPr>
            </a:pPr>
            <a:r>
              <a:t>📌  12 notebooks, 13 source modules, JSON-driven configs — fully modular and reproducible.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0" cy="54864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Requirements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What was asked  →  What was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✅  Investigate the Kaggle Book-Crossing dataset (Books, Users, Ratings)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01_read_data: CSV ingestion  +  03_eda: automated profiling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✅  Bronze → Silver → Gold data 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04_data_transformation (cleaning) → 05_data_merge (joins &amp; aggregations)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✅  Meaningful visualisations on Gold-layer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08a Plotly charts: top-10 popular books, best-rated authors by year/publisher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08b Databricks Lakeview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08c Power BI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Calibri"/>
              </a:defRPr>
            </a:pPr>
            <a:r>
              <a:t>✅  Present and discuss the solution, limitations, 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71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This presentation + live hands-on walkthrough in Databricks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Calibri"/>
              </a:defRPr>
            </a:pPr>
            <a:r>
              <a:t>📌  All four original requirements are fully addressed.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0" cy="54864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Additional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Beyond the requirements — proactive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Data Governance (02)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Column docs, PII tagging, GDPR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Data Quality Checks (06)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13 configurable rules on Silver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Quarantine Layer (07)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Isolate bad records, auto-clean Gold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9651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Git + Visual Studio Code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439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Version control, local dev with Databricks extension,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7914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real-time workspace sync, DABs deployment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ML Recommender — ALS Baseline (09a)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Collaborative filtering, RMSE 3.61, MLflow tracked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Hyperparameter Tuning (10)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54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Cross-validated ALS → RMSE 2.52 (−30% improvement)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Model Comparison Report (11)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HTML performance report across model variants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9651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A5F5"/>
                </a:solidFill>
                <a:latin typeface="Calibri"/>
              </a:defRPr>
            </a:pPr>
            <a:r>
              <a:t>🔹 Config-Driven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439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JSON configs + OOP Python classes (Template Method)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914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Change thresholds without touching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54F"/>
                </a:solidFill>
                <a:latin typeface="Calibri"/>
              </a:defRPr>
            </a:pPr>
            <a:r>
              <a:t>📌  11 modular pipeline stages — fully reproducible from CSV to ML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828800"/>
            <a:ext cx="3931920" cy="73152"/>
          </a:xfrm>
          <a:prstGeom prst="rect">
            <a:avLst/>
          </a:prstGeom>
          <a:solidFill>
            <a:srgbClr val="FF3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Hands-on walkthrough in the Databricks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Run the pipeline end-to-end (Bronze → Silver → 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297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Explore Data Quality checks and Quarantine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Interactive visualisations (Plotly + Lakeview 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Train &amp; compare ALS recommender models with MLflow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394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▸  Review the config-driven, modular project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54F"/>
                </a:solidFill>
                <a:latin typeface="Calibri"/>
              </a:defRPr>
            </a:pPr>
            <a:r>
              <a:t>Let's switch to Databricks  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